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5" r:id="rId11"/>
    <p:sldId id="264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B7BBD-AA37-46A9-A219-C7A0E10E0383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10CA7-DAE6-47B2-B681-623C208CD5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141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110CA7-DAE6-47B2-B681-623C208CD56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82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10130E60-A807-44BB-B521-B1B298D4140E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18FFE2E2-183E-4E04-BE66-1DAA5B67E547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32856"/>
            <a:ext cx="6400800" cy="3888432"/>
          </a:xfrm>
        </p:spPr>
        <p:txBody>
          <a:bodyPr>
            <a:normAutofit/>
          </a:bodyPr>
          <a:lstStyle/>
          <a:p>
            <a:r>
              <a:rPr lang="en-US" dirty="0" smtClean="0"/>
              <a:t>Presented by</a:t>
            </a:r>
          </a:p>
          <a:p>
            <a:r>
              <a:rPr lang="en-US" dirty="0" smtClean="0"/>
              <a:t>KHUSHBOO YADAV(22013008)</a:t>
            </a:r>
          </a:p>
          <a:p>
            <a:r>
              <a:rPr lang="en-US" dirty="0" smtClean="0"/>
              <a:t>From</a:t>
            </a:r>
          </a:p>
          <a:p>
            <a:r>
              <a:rPr lang="en-US" dirty="0" smtClean="0"/>
              <a:t>B.Tech Computer Science Engineering</a:t>
            </a:r>
          </a:p>
          <a:p>
            <a:r>
              <a:rPr lang="en-US" dirty="0" smtClean="0"/>
              <a:t>In </a:t>
            </a:r>
          </a:p>
          <a:p>
            <a:r>
              <a:rPr lang="en-US" dirty="0" smtClean="0"/>
              <a:t>Bhagat Phool Singh Mahila Vishwavidyalaya, Khanpur Kalan (Sonipat)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0648"/>
            <a:ext cx="7772400" cy="1080119"/>
          </a:xfrm>
        </p:spPr>
        <p:txBody>
          <a:bodyPr>
            <a:normAutofit/>
          </a:bodyPr>
          <a:lstStyle/>
          <a:p>
            <a:r>
              <a:rPr lang="en-GB" b="1" dirty="0" smtClean="0"/>
              <a:t>Brain-Computer Interface TECHNOLOGY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9592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41"/>
    </mc:Choice>
    <mc:Fallback xmlns="">
      <p:transition spd="slow" advTm="664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850106"/>
          </a:xfrm>
        </p:spPr>
        <p:txBody>
          <a:bodyPr/>
          <a:lstStyle/>
          <a:p>
            <a:pPr algn="ctr"/>
            <a:r>
              <a:rPr lang="en-GB" b="1" dirty="0" smtClean="0"/>
              <a:t>Introduction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BCI = Bridge between brain &amp; external devices</a:t>
            </a:r>
          </a:p>
          <a:p>
            <a:r>
              <a:rPr lang="en-US" dirty="0" smtClean="0"/>
              <a:t>Converts brain signals into commands</a:t>
            </a:r>
          </a:p>
          <a:p>
            <a:r>
              <a:rPr lang="en-US" dirty="0" smtClean="0"/>
              <a:t>Enables mind-controlled interaction</a:t>
            </a:r>
          </a:p>
          <a:p>
            <a:endParaRPr lang="en-US" dirty="0" smtClean="0"/>
          </a:p>
          <a:p>
            <a:endParaRPr lang="en-US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996952"/>
            <a:ext cx="5519181" cy="2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3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27"/>
    </mc:Choice>
    <mc:Fallback xmlns="">
      <p:transition spd="slow" advTm="612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850106"/>
          </a:xfrm>
        </p:spPr>
        <p:txBody>
          <a:bodyPr/>
          <a:lstStyle/>
          <a:p>
            <a:pPr algn="ctr"/>
            <a:r>
              <a:rPr lang="en-GB" b="1" dirty="0" smtClean="0"/>
              <a:t>Need for BCI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Assist disabled individuals</a:t>
            </a:r>
          </a:p>
          <a:p>
            <a:r>
              <a:rPr lang="en-US" dirty="0" smtClean="0"/>
              <a:t>Enable hands-free control</a:t>
            </a:r>
          </a:p>
          <a:p>
            <a:r>
              <a:rPr lang="en-US" dirty="0" smtClean="0"/>
              <a:t>Advance neuroscience research</a:t>
            </a:r>
          </a:p>
          <a:p>
            <a:r>
              <a:rPr lang="en-US" dirty="0" smtClean="0"/>
              <a:t>Boost human-computer interaction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457631"/>
            <a:ext cx="2308543" cy="22048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57631"/>
            <a:ext cx="2857500" cy="219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1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61"/>
    </mc:Choice>
    <mc:Fallback xmlns="">
      <p:transition spd="slow" advTm="696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778098"/>
          </a:xfrm>
        </p:spPr>
        <p:txBody>
          <a:bodyPr/>
          <a:lstStyle/>
          <a:p>
            <a:pPr algn="ctr"/>
            <a:r>
              <a:rPr lang="en-GB" b="1" dirty="0" smtClean="0"/>
              <a:t>How BCI Works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Brain Signal </a:t>
            </a:r>
            <a:r>
              <a:rPr lang="en-US" b="1" dirty="0" smtClean="0"/>
              <a:t>Acquisition:</a:t>
            </a:r>
            <a:r>
              <a:rPr lang="en-US" dirty="0"/>
              <a:t> </a:t>
            </a:r>
            <a:r>
              <a:rPr lang="en-US" dirty="0" smtClean="0"/>
              <a:t>Sensors</a:t>
            </a:r>
            <a:r>
              <a:rPr lang="en-US" dirty="0"/>
              <a:t>, often in the form of a headset or implants, capture electrical activity from the brain. Common methods include electroencephalography (EEG) for non-invasive measurement, electrocorticography (ECoG), and intracortical implants for more direct signals. </a:t>
            </a:r>
          </a:p>
          <a:p>
            <a:r>
              <a:rPr lang="en-US" b="1" dirty="0"/>
              <a:t>Signal Processing:</a:t>
            </a:r>
            <a:r>
              <a:rPr lang="en-US" dirty="0"/>
              <a:t> </a:t>
            </a:r>
            <a:r>
              <a:rPr lang="en-US" dirty="0" smtClean="0"/>
              <a:t>A </a:t>
            </a:r>
            <a:r>
              <a:rPr lang="en-US" dirty="0"/>
              <a:t>computer receives the raw brain signals and processes them to isolate the relevant features and patterns associated with a user's intended actions. </a:t>
            </a:r>
          </a:p>
          <a:p>
            <a:r>
              <a:rPr lang="en-US" b="1" dirty="0"/>
              <a:t>Feature Classification:</a:t>
            </a:r>
            <a:r>
              <a:rPr lang="en-US" dirty="0"/>
              <a:t> </a:t>
            </a:r>
            <a:r>
              <a:rPr lang="en-US" dirty="0" smtClean="0"/>
              <a:t>The </a:t>
            </a:r>
            <a:r>
              <a:rPr lang="en-US" dirty="0"/>
              <a:t>system classifies these processed signals to determine the user's intention. </a:t>
            </a:r>
          </a:p>
          <a:p>
            <a:r>
              <a:rPr lang="en-US" b="1" dirty="0"/>
              <a:t>Device Control:</a:t>
            </a:r>
            <a:r>
              <a:rPr lang="en-US" dirty="0"/>
              <a:t> </a:t>
            </a:r>
            <a:r>
              <a:rPr lang="en-US" dirty="0" smtClean="0"/>
              <a:t>The </a:t>
            </a:r>
            <a:r>
              <a:rPr lang="en-US" dirty="0"/>
              <a:t>identified intention is then translated into commands that are sent to an external device, such as a cursor on a screen, a prosthetic limb, or a communication tool. </a:t>
            </a:r>
          </a:p>
          <a:p>
            <a:r>
              <a:rPr lang="en-US" b="1" dirty="0"/>
              <a:t>Feedback:</a:t>
            </a:r>
            <a:r>
              <a:rPr lang="en-US" dirty="0"/>
              <a:t> </a:t>
            </a:r>
            <a:r>
              <a:rPr lang="en-US" dirty="0" smtClean="0"/>
              <a:t>Users </a:t>
            </a:r>
            <a:r>
              <a:rPr lang="en-US" dirty="0"/>
              <a:t>receive feedback (visual, auditory, or tactile) to help them learn to control the BCI system more effectively.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404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02"/>
    </mc:Choice>
    <mc:Fallback xmlns="">
      <p:transition spd="slow" advTm="12002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850106"/>
          </a:xfrm>
        </p:spPr>
        <p:txBody>
          <a:bodyPr/>
          <a:lstStyle/>
          <a:p>
            <a:pPr algn="ctr"/>
            <a:r>
              <a:rPr lang="en-GB" b="1" dirty="0"/>
              <a:t>Key Components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Brain Activity Sensor:</a:t>
            </a:r>
            <a:r>
              <a:rPr lang="en-US" dirty="0"/>
              <a:t> This device detects neural signals from the brain.</a:t>
            </a:r>
          </a:p>
          <a:p>
            <a:r>
              <a:rPr lang="en-US" b="1" dirty="0"/>
              <a:t>Computer with Software:</a:t>
            </a:r>
            <a:r>
              <a:rPr lang="en-US" dirty="0"/>
              <a:t> A computer analyzes the captured brain signals to determine the user's desired action.</a:t>
            </a:r>
          </a:p>
          <a:p>
            <a:r>
              <a:rPr lang="en-US" b="1" dirty="0"/>
              <a:t>Output Device:</a:t>
            </a:r>
            <a:r>
              <a:rPr lang="en-US" dirty="0"/>
              <a:t> This is the external device that receives the translated command and performs the action.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645024"/>
            <a:ext cx="2608711" cy="19442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942" y="3543856"/>
            <a:ext cx="2146549" cy="214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0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17"/>
    </mc:Choice>
    <mc:Fallback xmlns="">
      <p:transition spd="slow" advTm="721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62272"/>
            <a:ext cx="7924800" cy="1143000"/>
          </a:xfrm>
        </p:spPr>
        <p:txBody>
          <a:bodyPr/>
          <a:lstStyle/>
          <a:p>
            <a:pPr algn="ctr"/>
            <a:r>
              <a:rPr lang="en-GB" b="1" dirty="0" smtClean="0"/>
              <a:t>Types of BCI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Invasive:</a:t>
            </a:r>
            <a:r>
              <a:rPr lang="en-US" dirty="0"/>
              <a:t> Electrodes are implanted inside the brain (high accuracy, but needs surgery).</a:t>
            </a:r>
          </a:p>
          <a:p>
            <a:r>
              <a:rPr lang="en-US" b="1" dirty="0"/>
              <a:t>Semi-Invasive:</a:t>
            </a:r>
            <a:r>
              <a:rPr lang="en-US" dirty="0"/>
              <a:t> Electrodes placed on brain surface (less risky, good accuracy).</a:t>
            </a:r>
          </a:p>
          <a:p>
            <a:r>
              <a:rPr lang="en-US" b="1" dirty="0"/>
              <a:t>Non-Invasive:</a:t>
            </a:r>
            <a:r>
              <a:rPr lang="en-US" dirty="0"/>
              <a:t> Uses sensors outside the skull (EEG caps – safe but lower accuracy).</a:t>
            </a:r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852936"/>
            <a:ext cx="8352928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71"/>
    </mc:Choice>
    <mc:Fallback xmlns="">
      <p:transition spd="slow" advTm="777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850106"/>
          </a:xfrm>
        </p:spPr>
        <p:txBody>
          <a:bodyPr/>
          <a:lstStyle/>
          <a:p>
            <a:pPr algn="ctr"/>
            <a:r>
              <a:rPr lang="en-GB" b="1" dirty="0" smtClean="0"/>
              <a:t>Applications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Neuroprosthetics:</a:t>
            </a:r>
            <a:r>
              <a:rPr lang="en-US" dirty="0"/>
              <a:t> Control artificial limbs by thinking.</a:t>
            </a:r>
          </a:p>
          <a:p>
            <a:r>
              <a:rPr lang="en-US" b="1" dirty="0"/>
              <a:t>Communication:</a:t>
            </a:r>
            <a:r>
              <a:rPr lang="en-US" dirty="0"/>
              <a:t> Help paralyzed patients "speak" through a computer.</a:t>
            </a:r>
          </a:p>
          <a:p>
            <a:r>
              <a:rPr lang="en-US" b="1" dirty="0"/>
              <a:t>Gaming &amp; VR:</a:t>
            </a:r>
            <a:r>
              <a:rPr lang="en-US" dirty="0"/>
              <a:t> Mind-controlled video games.</a:t>
            </a:r>
          </a:p>
          <a:p>
            <a:r>
              <a:rPr lang="en-US" b="1" dirty="0"/>
              <a:t>Mental State Monitoring:</a:t>
            </a:r>
            <a:r>
              <a:rPr lang="en-US" dirty="0"/>
              <a:t> Detect fatigue or stress in pilots/drivers.</a:t>
            </a:r>
          </a:p>
          <a:p>
            <a:r>
              <a:rPr lang="en-US" b="1" dirty="0"/>
              <a:t>Military/Space:</a:t>
            </a:r>
            <a:r>
              <a:rPr lang="en-US" dirty="0"/>
              <a:t> Control drones or machines remotely using thoughts</a:t>
            </a:r>
            <a:r>
              <a:rPr lang="en-US" dirty="0" smtClean="0"/>
              <a:t>.</a:t>
            </a:r>
          </a:p>
          <a:p>
            <a:r>
              <a:rPr lang="en-GB" b="1" dirty="0"/>
              <a:t>Assistive </a:t>
            </a:r>
            <a:r>
              <a:rPr lang="en-GB" b="1" dirty="0" smtClean="0"/>
              <a:t>Technology: </a:t>
            </a:r>
            <a:r>
              <a:rPr lang="en-US" dirty="0"/>
              <a:t>P</a:t>
            </a:r>
            <a:r>
              <a:rPr lang="en-US" dirty="0" smtClean="0"/>
              <a:t>rovide </a:t>
            </a:r>
            <a:r>
              <a:rPr lang="en-US" dirty="0"/>
              <a:t>alternative communication and control for people with severe motor impairments, such as locked-in syndrome or paralysis, allowing them to interact with the world. </a:t>
            </a:r>
            <a:endParaRPr lang="en-US" dirty="0" smtClean="0"/>
          </a:p>
          <a:p>
            <a:r>
              <a:rPr lang="en-US" b="1" dirty="0"/>
              <a:t>Other Fields:</a:t>
            </a:r>
            <a:r>
              <a:rPr lang="en-US" dirty="0"/>
              <a:t> </a:t>
            </a:r>
            <a:r>
              <a:rPr lang="en-US" dirty="0" smtClean="0"/>
              <a:t>Beyond </a:t>
            </a:r>
            <a:r>
              <a:rPr lang="en-US" dirty="0"/>
              <a:t>medicine, BCI research is exploring applications in entertainment, gaming, education, and even military technologies. 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997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28"/>
    </mc:Choice>
    <mc:Fallback xmlns="">
      <p:transition spd="slow" advTm="10928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778098"/>
          </a:xfrm>
        </p:spPr>
        <p:txBody>
          <a:bodyPr/>
          <a:lstStyle/>
          <a:p>
            <a:pPr algn="ctr"/>
            <a:r>
              <a:rPr lang="en-GB" b="1" dirty="0" smtClean="0"/>
              <a:t>Advantages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Restores Function:</a:t>
            </a:r>
            <a:r>
              <a:rPr lang="en-US" dirty="0"/>
              <a:t> Gives independence to people with disabilities.</a:t>
            </a:r>
          </a:p>
          <a:p>
            <a:r>
              <a:rPr lang="en-US" b="1" dirty="0"/>
              <a:t>Better Life Quality:</a:t>
            </a:r>
            <a:r>
              <a:rPr lang="en-US" dirty="0"/>
              <a:t> More mobility, more communication options.</a:t>
            </a:r>
          </a:p>
          <a:p>
            <a:r>
              <a:rPr lang="en-US" b="1" dirty="0"/>
              <a:t>Innovation:</a:t>
            </a:r>
            <a:r>
              <a:rPr lang="en-US" dirty="0"/>
              <a:t> Pushes the limits of human-computer interaction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645024"/>
            <a:ext cx="2707441" cy="19226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3645024"/>
            <a:ext cx="2619375" cy="192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0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48"/>
    </mc:Choice>
    <mc:Fallback xmlns="">
      <p:transition spd="slow" advTm="5948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924800" cy="792088"/>
          </a:xfrm>
        </p:spPr>
        <p:txBody>
          <a:bodyPr/>
          <a:lstStyle/>
          <a:p>
            <a:pPr algn="ctr"/>
            <a:r>
              <a:rPr lang="en-GB" b="1" dirty="0" smtClean="0"/>
              <a:t>Challenges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Signal noise &amp; accuracy issues</a:t>
            </a:r>
          </a:p>
          <a:p>
            <a:r>
              <a:rPr lang="en-US" dirty="0" smtClean="0"/>
              <a:t>High cost of implementation</a:t>
            </a:r>
          </a:p>
          <a:p>
            <a:r>
              <a:rPr lang="en-US" dirty="0" smtClean="0"/>
              <a:t>Ethical &amp; privacy concerns</a:t>
            </a:r>
          </a:p>
          <a:p>
            <a:r>
              <a:rPr lang="en-US" dirty="0" smtClean="0"/>
              <a:t>Need for real-time processing</a:t>
            </a:r>
          </a:p>
          <a:p>
            <a:r>
              <a:rPr lang="en-US" dirty="0"/>
              <a:t>Technological </a:t>
            </a:r>
            <a:r>
              <a:rPr lang="en-US" dirty="0" smtClean="0"/>
              <a:t>Limitations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861048"/>
            <a:ext cx="2664296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9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71"/>
    </mc:Choice>
    <mc:Fallback xmlns="">
      <p:transition spd="slow" advTm="637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850106"/>
          </a:xfrm>
        </p:spPr>
        <p:txBody>
          <a:bodyPr/>
          <a:lstStyle/>
          <a:p>
            <a:pPr algn="ctr"/>
            <a:r>
              <a:rPr lang="en-GB" b="1" dirty="0" smtClean="0"/>
              <a:t>Future Scope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AI-driven BCIs</a:t>
            </a:r>
          </a:p>
          <a:p>
            <a:r>
              <a:rPr lang="en-US" dirty="0" smtClean="0"/>
              <a:t>Fully wireless brain control</a:t>
            </a:r>
          </a:p>
          <a:p>
            <a:r>
              <a:rPr lang="en-US" dirty="0" smtClean="0"/>
              <a:t>Human-AI symbiosis</a:t>
            </a:r>
          </a:p>
          <a:p>
            <a:r>
              <a:rPr lang="en-US" dirty="0" smtClean="0"/>
              <a:t>Brain-to-brain communication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3248980"/>
            <a:ext cx="2520280" cy="24271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429000"/>
            <a:ext cx="3611349" cy="206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6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7"/>
    </mc:Choice>
    <mc:Fallback xmlns="">
      <p:transition spd="slow" advTm="61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778098"/>
          </a:xfrm>
        </p:spPr>
        <p:txBody>
          <a:bodyPr/>
          <a:lstStyle/>
          <a:p>
            <a:pPr algn="ctr"/>
            <a:r>
              <a:rPr lang="en-GB" b="1" dirty="0" smtClean="0"/>
              <a:t>Conclusion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BCI = Future of seamless human-machine interaction</a:t>
            </a:r>
          </a:p>
          <a:p>
            <a:r>
              <a:rPr lang="en-US" smtClean="0"/>
              <a:t>Unlocking limitless possibilities</a:t>
            </a:r>
          </a:p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26" y="2420888"/>
            <a:ext cx="6867734" cy="335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8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76"/>
    </mc:Choice>
    <mc:Fallback xmlns="">
      <p:transition spd="slow" advTm="6376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2617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4953"/>
          </a:xfrm>
        </p:spPr>
      </p:pic>
    </p:spTree>
    <p:extLst>
      <p:ext uri="{BB962C8B-B14F-4D97-AF65-F5344CB8AC3E}">
        <p14:creationId xmlns:p14="http://schemas.microsoft.com/office/powerpoint/2010/main" val="419316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3"/>
    </mc:Choice>
    <mc:Fallback xmlns="">
      <p:transition spd="slow" advTm="963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281</TotalTime>
  <Words>293</Words>
  <Application>Microsoft Office PowerPoint</Application>
  <PresentationFormat>On-screen Show (4:3)</PresentationFormat>
  <Paragraphs>61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Horizon</vt:lpstr>
      <vt:lpstr>Brain-Computer Interface TECHNOLOGY</vt:lpstr>
      <vt:lpstr>Introduction</vt:lpstr>
      <vt:lpstr>Need for BCI</vt:lpstr>
      <vt:lpstr>How BCI Works</vt:lpstr>
      <vt:lpstr>Key Components </vt:lpstr>
      <vt:lpstr>Types of BCI</vt:lpstr>
      <vt:lpstr>Applications</vt:lpstr>
      <vt:lpstr>Advantages</vt:lpstr>
      <vt:lpstr>Challenges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Brain-Computer Interfaces – Direct Communication Between Brain &amp; Machines</dc:title>
  <dc:creator>Khushboo Yadav</dc:creator>
  <cp:lastModifiedBy>Khushboo Yadav</cp:lastModifiedBy>
  <cp:revision>38</cp:revision>
  <dcterms:created xsi:type="dcterms:W3CDTF">2025-09-12T07:21:25Z</dcterms:created>
  <dcterms:modified xsi:type="dcterms:W3CDTF">2025-09-18T04:44:17Z</dcterms:modified>
</cp:coreProperties>
</file>